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>
        <p:scale>
          <a:sx n="75" d="100"/>
          <a:sy n="75" d="100"/>
        </p:scale>
        <p:origin x="2237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864EEF-B9E6-447C-A0ED-CE72769A3D17}" type="datetimeFigureOut">
              <a:rPr lang="fr-FR" smtClean="0"/>
              <a:t>25/08/2024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08E38A-EE45-4302-8818-137C7175C44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131713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864EEF-B9E6-447C-A0ED-CE72769A3D17}" type="datetimeFigureOut">
              <a:rPr lang="fr-FR" smtClean="0"/>
              <a:t>25/08/2024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08E38A-EE45-4302-8818-137C7175C44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14038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864EEF-B9E6-447C-A0ED-CE72769A3D17}" type="datetimeFigureOut">
              <a:rPr lang="fr-FR" smtClean="0"/>
              <a:t>25/08/2024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08E38A-EE45-4302-8818-137C7175C44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520294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864EEF-B9E6-447C-A0ED-CE72769A3D17}" type="datetimeFigureOut">
              <a:rPr lang="fr-FR" smtClean="0"/>
              <a:t>25/08/2024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08E38A-EE45-4302-8818-137C7175C44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242714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864EEF-B9E6-447C-A0ED-CE72769A3D17}" type="datetimeFigureOut">
              <a:rPr lang="fr-FR" smtClean="0"/>
              <a:t>25/08/2024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08E38A-EE45-4302-8818-137C7175C44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113647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864EEF-B9E6-447C-A0ED-CE72769A3D17}" type="datetimeFigureOut">
              <a:rPr lang="fr-FR" smtClean="0"/>
              <a:t>25/08/2024</a:t>
            </a:fld>
            <a:endParaRPr lang="fr-F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08E38A-EE45-4302-8818-137C7175C44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651066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864EEF-B9E6-447C-A0ED-CE72769A3D17}" type="datetimeFigureOut">
              <a:rPr lang="fr-FR" smtClean="0"/>
              <a:t>25/08/2024</a:t>
            </a:fld>
            <a:endParaRPr lang="fr-F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08E38A-EE45-4302-8818-137C7175C44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912377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864EEF-B9E6-447C-A0ED-CE72769A3D17}" type="datetimeFigureOut">
              <a:rPr lang="fr-FR" smtClean="0"/>
              <a:t>25/08/2024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08E38A-EE45-4302-8818-137C7175C44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854464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864EEF-B9E6-447C-A0ED-CE72769A3D17}" type="datetimeFigureOut">
              <a:rPr lang="fr-FR" smtClean="0"/>
              <a:t>25/08/2024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08E38A-EE45-4302-8818-137C7175C44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671371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864EEF-B9E6-447C-A0ED-CE72769A3D17}" type="datetimeFigureOut">
              <a:rPr lang="fr-FR" smtClean="0"/>
              <a:t>25/08/2024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08E38A-EE45-4302-8818-137C7175C44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002007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864EEF-B9E6-447C-A0ED-CE72769A3D17}" type="datetimeFigureOut">
              <a:rPr lang="fr-FR" smtClean="0"/>
              <a:t>25/08/2024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08E38A-EE45-4302-8818-137C7175C44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807812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8864EEF-B9E6-447C-A0ED-CE72769A3D17}" type="datetimeFigureOut">
              <a:rPr lang="fr-FR" smtClean="0"/>
              <a:t>25/08/2024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E08E38A-EE45-4302-8818-137C7175C44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65256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jpg"/><Relationship Id="rId5" Type="http://schemas.openxmlformats.org/officeDocument/2006/relationships/image" Target="../media/image4.jpg"/><Relationship Id="rId4" Type="http://schemas.openxmlformats.org/officeDocument/2006/relationships/image" Target="../media/image3.jp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.png"/><Relationship Id="rId4" Type="http://schemas.openxmlformats.org/officeDocument/2006/relationships/image" Target="../media/image8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Image 32" descr="Une image contenant Police, Graphique, logo, clipart&#10;&#10;Description générée automatiquement">
            <a:extLst>
              <a:ext uri="{FF2B5EF4-FFF2-40B4-BE49-F238E27FC236}">
                <a16:creationId xmlns:a16="http://schemas.microsoft.com/office/drawing/2014/main" id="{F19DC8CA-7D2E-3582-D0EF-148B4D5BF59F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14228"/>
            <a:ext cx="6858000" cy="9391772"/>
          </a:xfrm>
          <a:prstGeom prst="rect">
            <a:avLst/>
          </a:prstGeom>
        </p:spPr>
      </p:pic>
      <p:pic>
        <p:nvPicPr>
          <p:cNvPr id="5" name="Image 4" descr="Une image contenant câble, métal, tuyau, intérieur&#10;&#10;Description générée automatiquement">
            <a:extLst>
              <a:ext uri="{FF2B5EF4-FFF2-40B4-BE49-F238E27FC236}">
                <a16:creationId xmlns:a16="http://schemas.microsoft.com/office/drawing/2014/main" id="{4135AF41-6985-358D-B4C9-290BAA2BC4F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2090" y="3139675"/>
            <a:ext cx="1679023" cy="1749268"/>
          </a:xfrm>
          <a:prstGeom prst="rect">
            <a:avLst/>
          </a:prstGeom>
        </p:spPr>
      </p:pic>
      <p:pic>
        <p:nvPicPr>
          <p:cNvPr id="7" name="Image 6" descr="Une image contenant câble, intérieur, fils électriques, machine&#10;&#10;Description générée automatiquement">
            <a:extLst>
              <a:ext uri="{FF2B5EF4-FFF2-40B4-BE49-F238E27FC236}">
                <a16:creationId xmlns:a16="http://schemas.microsoft.com/office/drawing/2014/main" id="{20608F9A-4D8B-755E-E42A-031DBCA579A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2088" y="1070133"/>
            <a:ext cx="1679023" cy="1749267"/>
          </a:xfrm>
          <a:prstGeom prst="rect">
            <a:avLst/>
          </a:prstGeom>
        </p:spPr>
      </p:pic>
      <p:pic>
        <p:nvPicPr>
          <p:cNvPr id="13" name="Image 12" descr="Une image contenant évier, intérieur&#10;&#10;Description générée automatiquement">
            <a:extLst>
              <a:ext uri="{FF2B5EF4-FFF2-40B4-BE49-F238E27FC236}">
                <a16:creationId xmlns:a16="http://schemas.microsoft.com/office/drawing/2014/main" id="{C8F68906-C6FB-DCEE-6268-20BC34CE543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2088" y="7278760"/>
            <a:ext cx="1679023" cy="1749267"/>
          </a:xfrm>
          <a:prstGeom prst="rect">
            <a:avLst/>
          </a:prstGeom>
        </p:spPr>
      </p:pic>
      <p:pic>
        <p:nvPicPr>
          <p:cNvPr id="15" name="Image 14" descr="Une image contenant évier, personne, Appareil sanitaire, intérieur&#10;&#10;Description générée automatiquement">
            <a:extLst>
              <a:ext uri="{FF2B5EF4-FFF2-40B4-BE49-F238E27FC236}">
                <a16:creationId xmlns:a16="http://schemas.microsoft.com/office/drawing/2014/main" id="{08608E6B-C4F9-A4A8-A7C1-4AC386663B1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2088" y="5209218"/>
            <a:ext cx="1679025" cy="1749267"/>
          </a:xfrm>
          <a:prstGeom prst="rect">
            <a:avLst/>
          </a:prstGeom>
        </p:spPr>
      </p:pic>
      <p:sp>
        <p:nvSpPr>
          <p:cNvPr id="22" name="ZoneTexte 21">
            <a:extLst>
              <a:ext uri="{FF2B5EF4-FFF2-40B4-BE49-F238E27FC236}">
                <a16:creationId xmlns:a16="http://schemas.microsoft.com/office/drawing/2014/main" id="{C3845D66-6E87-1CE6-EC07-C7E2C7F88027}"/>
              </a:ext>
            </a:extLst>
          </p:cNvPr>
          <p:cNvSpPr txBox="1"/>
          <p:nvPr/>
        </p:nvSpPr>
        <p:spPr>
          <a:xfrm>
            <a:off x="1456248" y="292712"/>
            <a:ext cx="3945504" cy="4001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fr-FR" sz="2000" b="1" dirty="0">
                <a:solidFill>
                  <a:srgbClr val="FF0000"/>
                </a:solidFill>
              </a:rPr>
              <a:t>Installation d’une tireuse à bière</a:t>
            </a:r>
          </a:p>
        </p:txBody>
      </p:sp>
      <p:sp>
        <p:nvSpPr>
          <p:cNvPr id="23" name="ZoneTexte 22">
            <a:extLst>
              <a:ext uri="{FF2B5EF4-FFF2-40B4-BE49-F238E27FC236}">
                <a16:creationId xmlns:a16="http://schemas.microsoft.com/office/drawing/2014/main" id="{DC4059FB-B6B1-D1B9-5690-B5DAEDB13CD2}"/>
              </a:ext>
            </a:extLst>
          </p:cNvPr>
          <p:cNvSpPr txBox="1"/>
          <p:nvPr/>
        </p:nvSpPr>
        <p:spPr>
          <a:xfrm>
            <a:off x="2366566" y="1013097"/>
            <a:ext cx="4229043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>
                <a:solidFill>
                  <a:srgbClr val="FF0000"/>
                </a:solidFill>
              </a:rPr>
              <a:t>Le matériel doit être rendu dans le </a:t>
            </a:r>
          </a:p>
          <a:p>
            <a:r>
              <a:rPr lang="fr-FR" dirty="0">
                <a:solidFill>
                  <a:srgbClr val="FF0000"/>
                </a:solidFill>
              </a:rPr>
              <a:t>même état qu’a l’initial. Tout dégâts sera </a:t>
            </a:r>
          </a:p>
          <a:p>
            <a:r>
              <a:rPr lang="fr-FR" dirty="0">
                <a:solidFill>
                  <a:srgbClr val="FF0000"/>
                </a:solidFill>
              </a:rPr>
              <a:t>pris sur le chèque de caution, et toute </a:t>
            </a:r>
          </a:p>
          <a:p>
            <a:r>
              <a:rPr lang="fr-FR" dirty="0">
                <a:solidFill>
                  <a:srgbClr val="FF0000"/>
                </a:solidFill>
              </a:rPr>
              <a:t>consommation excessive de CO2 vous </a:t>
            </a:r>
          </a:p>
          <a:p>
            <a:r>
              <a:rPr lang="fr-FR" dirty="0">
                <a:solidFill>
                  <a:srgbClr val="FF0000"/>
                </a:solidFill>
              </a:rPr>
              <a:t>sera facturée 20 euros.</a:t>
            </a:r>
          </a:p>
        </p:txBody>
      </p:sp>
      <p:sp>
        <p:nvSpPr>
          <p:cNvPr id="24" name="ZoneTexte 23">
            <a:extLst>
              <a:ext uri="{FF2B5EF4-FFF2-40B4-BE49-F238E27FC236}">
                <a16:creationId xmlns:a16="http://schemas.microsoft.com/office/drawing/2014/main" id="{AEDD083D-2B25-0DA6-359E-580E5C7C544B}"/>
              </a:ext>
            </a:extLst>
          </p:cNvPr>
          <p:cNvSpPr txBox="1"/>
          <p:nvPr/>
        </p:nvSpPr>
        <p:spPr>
          <a:xfrm>
            <a:off x="2366566" y="3367978"/>
            <a:ext cx="437049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>
                <a:solidFill>
                  <a:srgbClr val="FF0000"/>
                </a:solidFill>
              </a:rPr>
              <a:t>Branchez la prise secteur.</a:t>
            </a:r>
          </a:p>
          <a:p>
            <a:r>
              <a:rPr lang="fr-FR" dirty="0">
                <a:solidFill>
                  <a:srgbClr val="FF0000"/>
                </a:solidFill>
              </a:rPr>
              <a:t>Raccordez le tuyau de CO2 à la tête de fût.</a:t>
            </a:r>
          </a:p>
          <a:p>
            <a:r>
              <a:rPr lang="fr-FR" dirty="0">
                <a:solidFill>
                  <a:srgbClr val="FF0000"/>
                </a:solidFill>
                <a:highlight>
                  <a:srgbClr val="FFFF00"/>
                </a:highlight>
              </a:rPr>
              <a:t>Serrage</a:t>
            </a:r>
            <a:r>
              <a:rPr lang="fr-FR" dirty="0">
                <a:solidFill>
                  <a:srgbClr val="FF0000"/>
                </a:solidFill>
              </a:rPr>
              <a:t> fort à la main.</a:t>
            </a:r>
          </a:p>
        </p:txBody>
      </p:sp>
      <p:sp>
        <p:nvSpPr>
          <p:cNvPr id="25" name="ZoneTexte 24">
            <a:extLst>
              <a:ext uri="{FF2B5EF4-FFF2-40B4-BE49-F238E27FC236}">
                <a16:creationId xmlns:a16="http://schemas.microsoft.com/office/drawing/2014/main" id="{20177A17-0608-D537-C0AF-DE3EB482DA17}"/>
              </a:ext>
            </a:extLst>
          </p:cNvPr>
          <p:cNvSpPr txBox="1"/>
          <p:nvPr/>
        </p:nvSpPr>
        <p:spPr>
          <a:xfrm>
            <a:off x="2366566" y="5714519"/>
            <a:ext cx="36809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>
                <a:solidFill>
                  <a:srgbClr val="FF0000"/>
                </a:solidFill>
              </a:rPr>
              <a:t>Faites glisser la tête de fût sur le fût</a:t>
            </a:r>
          </a:p>
        </p:txBody>
      </p:sp>
      <p:sp>
        <p:nvSpPr>
          <p:cNvPr id="26" name="ZoneTexte 25">
            <a:extLst>
              <a:ext uri="{FF2B5EF4-FFF2-40B4-BE49-F238E27FC236}">
                <a16:creationId xmlns:a16="http://schemas.microsoft.com/office/drawing/2014/main" id="{F758098B-7F6C-EF73-7326-DB44D9CB6D67}"/>
              </a:ext>
            </a:extLst>
          </p:cNvPr>
          <p:cNvSpPr txBox="1"/>
          <p:nvPr/>
        </p:nvSpPr>
        <p:spPr>
          <a:xfrm>
            <a:off x="2369868" y="7278767"/>
            <a:ext cx="32387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>
                <a:solidFill>
                  <a:srgbClr val="FF0000"/>
                </a:solidFill>
              </a:rPr>
              <a:t>Abaissez la </a:t>
            </a:r>
            <a:r>
              <a:rPr lang="fr-FR" dirty="0">
                <a:solidFill>
                  <a:srgbClr val="FF0000"/>
                </a:solidFill>
                <a:highlight>
                  <a:srgbClr val="FFFF00"/>
                </a:highlight>
              </a:rPr>
              <a:t>poignée</a:t>
            </a:r>
            <a:r>
              <a:rPr lang="fr-FR" dirty="0">
                <a:solidFill>
                  <a:srgbClr val="FF0000"/>
                </a:solidFill>
              </a:rPr>
              <a:t> vers le bas</a:t>
            </a:r>
          </a:p>
        </p:txBody>
      </p:sp>
      <p:sp>
        <p:nvSpPr>
          <p:cNvPr id="27" name="Flèche : haut 26">
            <a:extLst>
              <a:ext uri="{FF2B5EF4-FFF2-40B4-BE49-F238E27FC236}">
                <a16:creationId xmlns:a16="http://schemas.microsoft.com/office/drawing/2014/main" id="{6FEC340E-7C2B-31E0-6E06-E81FE2520603}"/>
              </a:ext>
            </a:extLst>
          </p:cNvPr>
          <p:cNvSpPr/>
          <p:nvPr/>
        </p:nvSpPr>
        <p:spPr>
          <a:xfrm>
            <a:off x="1282655" y="4118736"/>
            <a:ext cx="347185" cy="618819"/>
          </a:xfrm>
          <a:prstGeom prst="up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8" name="Flèche : haut 27">
            <a:extLst>
              <a:ext uri="{FF2B5EF4-FFF2-40B4-BE49-F238E27FC236}">
                <a16:creationId xmlns:a16="http://schemas.microsoft.com/office/drawing/2014/main" id="{FBBFDBDD-9D45-8983-2386-DF7DB8C03C90}"/>
              </a:ext>
            </a:extLst>
          </p:cNvPr>
          <p:cNvSpPr/>
          <p:nvPr/>
        </p:nvSpPr>
        <p:spPr>
          <a:xfrm rot="5400000">
            <a:off x="666881" y="6502806"/>
            <a:ext cx="347185" cy="345142"/>
          </a:xfrm>
          <a:prstGeom prst="up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29" name="Flèche : haut 28">
            <a:extLst>
              <a:ext uri="{FF2B5EF4-FFF2-40B4-BE49-F238E27FC236}">
                <a16:creationId xmlns:a16="http://schemas.microsoft.com/office/drawing/2014/main" id="{35B2305B-8578-EC44-3D63-43AF0E42AC01}"/>
              </a:ext>
            </a:extLst>
          </p:cNvPr>
          <p:cNvSpPr/>
          <p:nvPr/>
        </p:nvSpPr>
        <p:spPr>
          <a:xfrm rot="10800000">
            <a:off x="721690" y="7335796"/>
            <a:ext cx="347185" cy="435831"/>
          </a:xfrm>
          <a:prstGeom prst="up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4" name="ZoneTexte 33">
            <a:extLst>
              <a:ext uri="{FF2B5EF4-FFF2-40B4-BE49-F238E27FC236}">
                <a16:creationId xmlns:a16="http://schemas.microsoft.com/office/drawing/2014/main" id="{BBAA7D78-4B0F-4871-82F8-67300DA2690B}"/>
              </a:ext>
            </a:extLst>
          </p:cNvPr>
          <p:cNvSpPr txBox="1"/>
          <p:nvPr/>
        </p:nvSpPr>
        <p:spPr>
          <a:xfrm rot="5400000">
            <a:off x="1179761" y="4362239"/>
            <a:ext cx="57912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800" dirty="0">
                <a:solidFill>
                  <a:srgbClr val="FFFF00"/>
                </a:solidFill>
              </a:rPr>
              <a:t>serrage</a:t>
            </a:r>
          </a:p>
        </p:txBody>
      </p:sp>
      <p:sp>
        <p:nvSpPr>
          <p:cNvPr id="35" name="ZoneTexte 34">
            <a:extLst>
              <a:ext uri="{FF2B5EF4-FFF2-40B4-BE49-F238E27FC236}">
                <a16:creationId xmlns:a16="http://schemas.microsoft.com/office/drawing/2014/main" id="{153731CF-08D8-9407-C4D1-DF31FD905BEB}"/>
              </a:ext>
            </a:extLst>
          </p:cNvPr>
          <p:cNvSpPr txBox="1"/>
          <p:nvPr/>
        </p:nvSpPr>
        <p:spPr>
          <a:xfrm rot="5400000">
            <a:off x="615763" y="7460598"/>
            <a:ext cx="57912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800" dirty="0">
                <a:solidFill>
                  <a:srgbClr val="FFFF00"/>
                </a:solidFill>
              </a:rPr>
              <a:t>poignée</a:t>
            </a:r>
          </a:p>
        </p:txBody>
      </p:sp>
    </p:spTree>
    <p:extLst>
      <p:ext uri="{BB962C8B-B14F-4D97-AF65-F5344CB8AC3E}">
        <p14:creationId xmlns:p14="http://schemas.microsoft.com/office/powerpoint/2010/main" val="35778616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 descr="Une image contenant appareil, jauge, Instrument de mesure, motocyclette&#10;&#10;Description générée automatiquement">
            <a:extLst>
              <a:ext uri="{FF2B5EF4-FFF2-40B4-BE49-F238E27FC236}">
                <a16:creationId xmlns:a16="http://schemas.microsoft.com/office/drawing/2014/main" id="{C8E90358-A2CD-4226-9C6C-B0A1B276D3C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7150" y="832954"/>
            <a:ext cx="1788326" cy="1788326"/>
          </a:xfrm>
          <a:prstGeom prst="rect">
            <a:avLst/>
          </a:prstGeom>
        </p:spPr>
      </p:pic>
      <p:pic>
        <p:nvPicPr>
          <p:cNvPr id="5" name="Image 4" descr="Une image contenant métal, évier, intérieur&#10;&#10;Description générée automatiquement">
            <a:extLst>
              <a:ext uri="{FF2B5EF4-FFF2-40B4-BE49-F238E27FC236}">
                <a16:creationId xmlns:a16="http://schemas.microsoft.com/office/drawing/2014/main" id="{787619E7-AA59-74E2-8F3F-530D8C1E160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7150" y="3051271"/>
            <a:ext cx="1788326" cy="1788326"/>
          </a:xfrm>
          <a:prstGeom prst="rect">
            <a:avLst/>
          </a:prstGeom>
        </p:spPr>
      </p:pic>
      <p:pic>
        <p:nvPicPr>
          <p:cNvPr id="6" name="Image 5" descr="Une image contenant machine, intérieur, levier&#10;&#10;Description générée automatiquement">
            <a:extLst>
              <a:ext uri="{FF2B5EF4-FFF2-40B4-BE49-F238E27FC236}">
                <a16:creationId xmlns:a16="http://schemas.microsoft.com/office/drawing/2014/main" id="{9DB0440F-B3F2-20E2-92B3-F7E79D498FC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7151" y="5289495"/>
            <a:ext cx="1788325" cy="1788326"/>
          </a:xfrm>
          <a:prstGeom prst="rect">
            <a:avLst/>
          </a:prstGeom>
        </p:spPr>
      </p:pic>
      <p:sp>
        <p:nvSpPr>
          <p:cNvPr id="7" name="ZoneTexte 6">
            <a:extLst>
              <a:ext uri="{FF2B5EF4-FFF2-40B4-BE49-F238E27FC236}">
                <a16:creationId xmlns:a16="http://schemas.microsoft.com/office/drawing/2014/main" id="{B0A55938-38A4-7589-C31E-473AD80215A0}"/>
              </a:ext>
            </a:extLst>
          </p:cNvPr>
          <p:cNvSpPr txBox="1"/>
          <p:nvPr/>
        </p:nvSpPr>
        <p:spPr>
          <a:xfrm>
            <a:off x="2364588" y="832955"/>
            <a:ext cx="4231893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solidFill>
                  <a:srgbClr val="FF0000"/>
                </a:solidFill>
              </a:rPr>
              <a:t>Ouvrir le </a:t>
            </a:r>
            <a:r>
              <a:rPr lang="fr-FR" dirty="0">
                <a:solidFill>
                  <a:srgbClr val="FF0000"/>
                </a:solidFill>
                <a:highlight>
                  <a:srgbClr val="FFFF00"/>
                </a:highlight>
              </a:rPr>
              <a:t>robinet</a:t>
            </a:r>
            <a:r>
              <a:rPr lang="fr-FR" dirty="0">
                <a:solidFill>
                  <a:srgbClr val="FF0000"/>
                </a:solidFill>
              </a:rPr>
              <a:t> de la bouteille de CO2</a:t>
            </a:r>
          </a:p>
          <a:p>
            <a:r>
              <a:rPr lang="fr-FR" dirty="0">
                <a:solidFill>
                  <a:srgbClr val="FF0000"/>
                </a:solidFill>
              </a:rPr>
              <a:t>d’un quart de tour, et la </a:t>
            </a:r>
            <a:r>
              <a:rPr lang="fr-FR" dirty="0">
                <a:solidFill>
                  <a:srgbClr val="FF0000"/>
                </a:solidFill>
                <a:highlight>
                  <a:srgbClr val="FFFF00"/>
                </a:highlight>
              </a:rPr>
              <a:t>vanne</a:t>
            </a:r>
            <a:r>
              <a:rPr lang="fr-FR" dirty="0">
                <a:solidFill>
                  <a:srgbClr val="FF0000"/>
                </a:solidFill>
              </a:rPr>
              <a:t> de sortie.</a:t>
            </a:r>
          </a:p>
          <a:p>
            <a:r>
              <a:rPr lang="fr-FR" dirty="0">
                <a:solidFill>
                  <a:srgbClr val="FF0000"/>
                </a:solidFill>
              </a:rPr>
              <a:t>Ne pas toucher au réglage de pression.</a:t>
            </a:r>
          </a:p>
          <a:p>
            <a:r>
              <a:rPr lang="fr-FR" dirty="0">
                <a:solidFill>
                  <a:srgbClr val="FF0000"/>
                </a:solidFill>
              </a:rPr>
              <a:t>Ne pas laisser ouvert le CO2 une fois la prestation terminée, cela </a:t>
            </a:r>
          </a:p>
          <a:p>
            <a:r>
              <a:rPr lang="fr-FR" dirty="0">
                <a:solidFill>
                  <a:srgbClr val="FF0000"/>
                </a:solidFill>
              </a:rPr>
              <a:t>peut provoquer une consommation excessive, et une facturation.</a:t>
            </a: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F917FDA1-4F64-4E0D-32A5-3212C157FD98}"/>
              </a:ext>
            </a:extLst>
          </p:cNvPr>
          <p:cNvSpPr txBox="1"/>
          <p:nvPr/>
        </p:nvSpPr>
        <p:spPr>
          <a:xfrm>
            <a:off x="2364589" y="3051271"/>
            <a:ext cx="4486677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>
                <a:solidFill>
                  <a:srgbClr val="FF0000"/>
                </a:solidFill>
              </a:rPr>
              <a:t>Tirez sur le </a:t>
            </a:r>
            <a:r>
              <a:rPr lang="fr-FR" dirty="0">
                <a:solidFill>
                  <a:srgbClr val="FF0000"/>
                </a:solidFill>
                <a:highlight>
                  <a:srgbClr val="FFFF00"/>
                </a:highlight>
              </a:rPr>
              <a:t>manche</a:t>
            </a:r>
            <a:r>
              <a:rPr lang="fr-FR" dirty="0">
                <a:solidFill>
                  <a:srgbClr val="FF0000"/>
                </a:solidFill>
              </a:rPr>
              <a:t> de bière. De l’eau va </a:t>
            </a:r>
          </a:p>
          <a:p>
            <a:r>
              <a:rPr lang="fr-FR" dirty="0">
                <a:solidFill>
                  <a:srgbClr val="FF0000"/>
                </a:solidFill>
              </a:rPr>
              <a:t>tout d’abord sortir, avant que la mousse </a:t>
            </a:r>
          </a:p>
          <a:p>
            <a:r>
              <a:rPr lang="fr-FR" dirty="0">
                <a:solidFill>
                  <a:srgbClr val="FF0000"/>
                </a:solidFill>
              </a:rPr>
              <a:t>éclabousse. Servez deux verres de mousse,</a:t>
            </a:r>
          </a:p>
          <a:p>
            <a:r>
              <a:rPr lang="fr-FR" dirty="0">
                <a:solidFill>
                  <a:srgbClr val="FF0000"/>
                </a:solidFill>
              </a:rPr>
              <a:t>et la bière arrive. </a:t>
            </a:r>
          </a:p>
          <a:p>
            <a:r>
              <a:rPr lang="fr-FR" dirty="0">
                <a:solidFill>
                  <a:srgbClr val="FF0000"/>
                </a:solidFill>
              </a:rPr>
              <a:t>La vitesse de service se fait par la </a:t>
            </a:r>
            <a:r>
              <a:rPr lang="fr-FR" dirty="0">
                <a:solidFill>
                  <a:srgbClr val="FF0000"/>
                </a:solidFill>
                <a:highlight>
                  <a:srgbClr val="FFFF00"/>
                </a:highlight>
              </a:rPr>
              <a:t>molette</a:t>
            </a:r>
            <a:r>
              <a:rPr lang="fr-FR" dirty="0">
                <a:solidFill>
                  <a:srgbClr val="FF0000"/>
                </a:solidFill>
              </a:rPr>
              <a:t> </a:t>
            </a:r>
          </a:p>
          <a:p>
            <a:r>
              <a:rPr lang="fr-FR" dirty="0">
                <a:solidFill>
                  <a:srgbClr val="FF0000"/>
                </a:solidFill>
              </a:rPr>
              <a:t>de droite. Lever pour ralentir, abaisser pour </a:t>
            </a:r>
          </a:p>
          <a:p>
            <a:r>
              <a:rPr lang="fr-FR" dirty="0">
                <a:solidFill>
                  <a:srgbClr val="FF0000"/>
                </a:solidFill>
              </a:rPr>
              <a:t>accélérer.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0226A13D-139F-2A0B-3779-C6489B3A2352}"/>
              </a:ext>
            </a:extLst>
          </p:cNvPr>
          <p:cNvSpPr txBox="1"/>
          <p:nvPr/>
        </p:nvSpPr>
        <p:spPr>
          <a:xfrm>
            <a:off x="2388317" y="5269588"/>
            <a:ext cx="4480265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>
                <a:solidFill>
                  <a:srgbClr val="FF0000"/>
                </a:solidFill>
              </a:rPr>
              <a:t>La bière est fraîche en 10 min.</a:t>
            </a:r>
          </a:p>
          <a:p>
            <a:r>
              <a:rPr lang="fr-FR" dirty="0">
                <a:solidFill>
                  <a:srgbClr val="FF0000"/>
                </a:solidFill>
              </a:rPr>
              <a:t>Certains modèles sont équipés d’une</a:t>
            </a:r>
          </a:p>
          <a:p>
            <a:r>
              <a:rPr lang="fr-FR" dirty="0">
                <a:solidFill>
                  <a:srgbClr val="FF0000"/>
                </a:solidFill>
              </a:rPr>
              <a:t>molette de réglage de température.</a:t>
            </a:r>
          </a:p>
          <a:p>
            <a:r>
              <a:rPr lang="fr-FR" dirty="0">
                <a:solidFill>
                  <a:srgbClr val="FF0000"/>
                </a:solidFill>
              </a:rPr>
              <a:t>Plus le chiffre est haut, plus elle est fraîche.</a:t>
            </a:r>
          </a:p>
          <a:p>
            <a:r>
              <a:rPr lang="fr-FR" dirty="0">
                <a:solidFill>
                  <a:srgbClr val="FF0000"/>
                </a:solidFill>
              </a:rPr>
              <a:t>Si des glaçons sortent, la bière est trop</a:t>
            </a:r>
          </a:p>
          <a:p>
            <a:r>
              <a:rPr lang="fr-FR" dirty="0">
                <a:solidFill>
                  <a:srgbClr val="FF0000"/>
                </a:solidFill>
              </a:rPr>
              <a:t>froide, abaissez la température avant que </a:t>
            </a:r>
          </a:p>
          <a:p>
            <a:r>
              <a:rPr lang="fr-FR" dirty="0">
                <a:solidFill>
                  <a:srgbClr val="FF0000"/>
                </a:solidFill>
              </a:rPr>
              <a:t>cela gèle.</a:t>
            </a: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04AD6D89-D9B1-8914-F666-496AD997BFD4}"/>
              </a:ext>
            </a:extLst>
          </p:cNvPr>
          <p:cNvSpPr txBox="1"/>
          <p:nvPr/>
        </p:nvSpPr>
        <p:spPr>
          <a:xfrm>
            <a:off x="194126" y="7872716"/>
            <a:ext cx="6764481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>
                <a:solidFill>
                  <a:srgbClr val="FF0000"/>
                </a:solidFill>
              </a:rPr>
              <a:t>Votre prestation terminée, procéder dans le sens inverse.</a:t>
            </a:r>
          </a:p>
          <a:p>
            <a:r>
              <a:rPr lang="fr-FR" dirty="0">
                <a:solidFill>
                  <a:srgbClr val="FF0000"/>
                </a:solidFill>
              </a:rPr>
              <a:t>Fermeture du CO2, lever la poignée, faire coulisser la tête de fût, </a:t>
            </a:r>
          </a:p>
          <a:p>
            <a:r>
              <a:rPr lang="fr-FR" dirty="0">
                <a:solidFill>
                  <a:srgbClr val="FF0000"/>
                </a:solidFill>
              </a:rPr>
              <a:t>débrancher le tuyau de CO2, débrancher la prise secteur, et ranger</a:t>
            </a:r>
          </a:p>
          <a:p>
            <a:r>
              <a:rPr lang="fr-FR" dirty="0">
                <a:solidFill>
                  <a:srgbClr val="FF0000"/>
                </a:solidFill>
              </a:rPr>
              <a:t>le matériel. Nettoyer l’extérieure, l’intérieur sera fait par nos soins.</a:t>
            </a:r>
          </a:p>
        </p:txBody>
      </p:sp>
      <p:sp>
        <p:nvSpPr>
          <p:cNvPr id="11" name="Flèche : haut 10">
            <a:extLst>
              <a:ext uri="{FF2B5EF4-FFF2-40B4-BE49-F238E27FC236}">
                <a16:creationId xmlns:a16="http://schemas.microsoft.com/office/drawing/2014/main" id="{0DC4D918-6BCE-1CC9-1C6C-2D4D2A154034}"/>
              </a:ext>
            </a:extLst>
          </p:cNvPr>
          <p:cNvSpPr/>
          <p:nvPr/>
        </p:nvSpPr>
        <p:spPr>
          <a:xfrm rot="16200000">
            <a:off x="1232810" y="1932894"/>
            <a:ext cx="347185" cy="345142"/>
          </a:xfrm>
          <a:prstGeom prst="up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2" name="Flèche : haut 11">
            <a:extLst>
              <a:ext uri="{FF2B5EF4-FFF2-40B4-BE49-F238E27FC236}">
                <a16:creationId xmlns:a16="http://schemas.microsoft.com/office/drawing/2014/main" id="{3D59E9F0-65C1-CE32-6CD4-C8C4FA83CF78}"/>
              </a:ext>
            </a:extLst>
          </p:cNvPr>
          <p:cNvSpPr/>
          <p:nvPr/>
        </p:nvSpPr>
        <p:spPr>
          <a:xfrm>
            <a:off x="1734255" y="1886138"/>
            <a:ext cx="347185" cy="560586"/>
          </a:xfrm>
          <a:prstGeom prst="up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3" name="Flèche : haut 12">
            <a:extLst>
              <a:ext uri="{FF2B5EF4-FFF2-40B4-BE49-F238E27FC236}">
                <a16:creationId xmlns:a16="http://schemas.microsoft.com/office/drawing/2014/main" id="{FEAC7FD9-D491-6D56-6B0B-86DB6402199E}"/>
              </a:ext>
            </a:extLst>
          </p:cNvPr>
          <p:cNvSpPr/>
          <p:nvPr/>
        </p:nvSpPr>
        <p:spPr>
          <a:xfrm rot="16200000">
            <a:off x="914133" y="2954350"/>
            <a:ext cx="347185" cy="637358"/>
          </a:xfrm>
          <a:prstGeom prst="up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4" name="Flèche : haut 13">
            <a:extLst>
              <a:ext uri="{FF2B5EF4-FFF2-40B4-BE49-F238E27FC236}">
                <a16:creationId xmlns:a16="http://schemas.microsoft.com/office/drawing/2014/main" id="{6D672F7A-BA0E-BE81-918D-A969493BEC2B}"/>
              </a:ext>
            </a:extLst>
          </p:cNvPr>
          <p:cNvSpPr/>
          <p:nvPr/>
        </p:nvSpPr>
        <p:spPr>
          <a:xfrm rot="16200000">
            <a:off x="1535450" y="3445199"/>
            <a:ext cx="347185" cy="605279"/>
          </a:xfrm>
          <a:prstGeom prst="up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5" name="Flèche : haut 14">
            <a:extLst>
              <a:ext uri="{FF2B5EF4-FFF2-40B4-BE49-F238E27FC236}">
                <a16:creationId xmlns:a16="http://schemas.microsoft.com/office/drawing/2014/main" id="{CE1A6339-87FF-A092-03B0-D1163323DBE9}"/>
              </a:ext>
            </a:extLst>
          </p:cNvPr>
          <p:cNvSpPr/>
          <p:nvPr/>
        </p:nvSpPr>
        <p:spPr>
          <a:xfrm>
            <a:off x="974679" y="6138566"/>
            <a:ext cx="347185" cy="627993"/>
          </a:xfrm>
          <a:prstGeom prst="up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6" name="Organigramme : Jonction de sommaire 15">
            <a:extLst>
              <a:ext uri="{FF2B5EF4-FFF2-40B4-BE49-F238E27FC236}">
                <a16:creationId xmlns:a16="http://schemas.microsoft.com/office/drawing/2014/main" id="{221D0578-F3AE-4012-4AB9-F667C5BF0F31}"/>
              </a:ext>
            </a:extLst>
          </p:cNvPr>
          <p:cNvSpPr/>
          <p:nvPr/>
        </p:nvSpPr>
        <p:spPr>
          <a:xfrm>
            <a:off x="787681" y="1341831"/>
            <a:ext cx="414338" cy="385762"/>
          </a:xfrm>
          <a:prstGeom prst="flowChartSummingJunction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17" name="Image 16" descr="Une image contenant Police, Graphique, logo, clipart&#10;&#10;Description générée automatiquement">
            <a:extLst>
              <a:ext uri="{FF2B5EF4-FFF2-40B4-BE49-F238E27FC236}">
                <a16:creationId xmlns:a16="http://schemas.microsoft.com/office/drawing/2014/main" id="{1EED8C81-64C1-D079-0BD6-1B20B509A666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51597" y="832954"/>
            <a:ext cx="6858000" cy="9391772"/>
          </a:xfrm>
          <a:prstGeom prst="rect">
            <a:avLst/>
          </a:prstGeom>
        </p:spPr>
      </p:pic>
      <p:sp>
        <p:nvSpPr>
          <p:cNvPr id="18" name="ZoneTexte 17">
            <a:extLst>
              <a:ext uri="{FF2B5EF4-FFF2-40B4-BE49-F238E27FC236}">
                <a16:creationId xmlns:a16="http://schemas.microsoft.com/office/drawing/2014/main" id="{04EF9E9C-B408-1908-51EB-75070AE863D5}"/>
              </a:ext>
            </a:extLst>
          </p:cNvPr>
          <p:cNvSpPr txBox="1"/>
          <p:nvPr/>
        </p:nvSpPr>
        <p:spPr>
          <a:xfrm>
            <a:off x="1517560" y="3640116"/>
            <a:ext cx="57912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800" dirty="0">
                <a:solidFill>
                  <a:srgbClr val="FFFF00"/>
                </a:solidFill>
              </a:rPr>
              <a:t>molette</a:t>
            </a:r>
          </a:p>
        </p:txBody>
      </p:sp>
      <p:sp>
        <p:nvSpPr>
          <p:cNvPr id="20" name="ZoneTexte 19">
            <a:extLst>
              <a:ext uri="{FF2B5EF4-FFF2-40B4-BE49-F238E27FC236}">
                <a16:creationId xmlns:a16="http://schemas.microsoft.com/office/drawing/2014/main" id="{8269775B-1DCD-A51F-F8F1-C7A3C5B21475}"/>
              </a:ext>
            </a:extLst>
          </p:cNvPr>
          <p:cNvSpPr txBox="1"/>
          <p:nvPr/>
        </p:nvSpPr>
        <p:spPr>
          <a:xfrm>
            <a:off x="936842" y="3162827"/>
            <a:ext cx="57912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800" dirty="0">
                <a:solidFill>
                  <a:srgbClr val="FFFF00"/>
                </a:solidFill>
              </a:rPr>
              <a:t>manche</a:t>
            </a:r>
          </a:p>
        </p:txBody>
      </p:sp>
      <p:sp>
        <p:nvSpPr>
          <p:cNvPr id="21" name="ZoneTexte 20">
            <a:extLst>
              <a:ext uri="{FF2B5EF4-FFF2-40B4-BE49-F238E27FC236}">
                <a16:creationId xmlns:a16="http://schemas.microsoft.com/office/drawing/2014/main" id="{AC6166BF-4114-9D52-E9D7-DD804638F7BD}"/>
              </a:ext>
            </a:extLst>
          </p:cNvPr>
          <p:cNvSpPr txBox="1"/>
          <p:nvPr/>
        </p:nvSpPr>
        <p:spPr>
          <a:xfrm>
            <a:off x="1202019" y="1988828"/>
            <a:ext cx="57912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800" dirty="0">
                <a:solidFill>
                  <a:srgbClr val="FFFF00"/>
                </a:solidFill>
              </a:rPr>
              <a:t>vanne</a:t>
            </a:r>
          </a:p>
        </p:txBody>
      </p:sp>
      <p:sp>
        <p:nvSpPr>
          <p:cNvPr id="22" name="ZoneTexte 21">
            <a:extLst>
              <a:ext uri="{FF2B5EF4-FFF2-40B4-BE49-F238E27FC236}">
                <a16:creationId xmlns:a16="http://schemas.microsoft.com/office/drawing/2014/main" id="{5A2C570C-49CA-3DFE-0B96-AAAB1E51925F}"/>
              </a:ext>
            </a:extLst>
          </p:cNvPr>
          <p:cNvSpPr txBox="1"/>
          <p:nvPr/>
        </p:nvSpPr>
        <p:spPr>
          <a:xfrm>
            <a:off x="759890" y="1410082"/>
            <a:ext cx="57912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600" dirty="0">
                <a:solidFill>
                  <a:srgbClr val="FFFF00"/>
                </a:solidFill>
              </a:rPr>
              <a:t>NE PAS TOUCHER</a:t>
            </a:r>
          </a:p>
        </p:txBody>
      </p:sp>
      <p:sp>
        <p:nvSpPr>
          <p:cNvPr id="23" name="ZoneTexte 22">
            <a:extLst>
              <a:ext uri="{FF2B5EF4-FFF2-40B4-BE49-F238E27FC236}">
                <a16:creationId xmlns:a16="http://schemas.microsoft.com/office/drawing/2014/main" id="{9249AF20-4D57-38CE-C8EB-506796345A82}"/>
              </a:ext>
            </a:extLst>
          </p:cNvPr>
          <p:cNvSpPr txBox="1"/>
          <p:nvPr/>
        </p:nvSpPr>
        <p:spPr>
          <a:xfrm rot="5400000">
            <a:off x="1628337" y="2135187"/>
            <a:ext cx="57912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800" dirty="0">
                <a:solidFill>
                  <a:srgbClr val="FFFF00"/>
                </a:solidFill>
              </a:rPr>
              <a:t>robinet</a:t>
            </a:r>
          </a:p>
        </p:txBody>
      </p:sp>
      <p:sp>
        <p:nvSpPr>
          <p:cNvPr id="26" name="ZoneTexte 25">
            <a:extLst>
              <a:ext uri="{FF2B5EF4-FFF2-40B4-BE49-F238E27FC236}">
                <a16:creationId xmlns:a16="http://schemas.microsoft.com/office/drawing/2014/main" id="{11DA3821-E527-9878-B174-C4923DA0F633}"/>
              </a:ext>
            </a:extLst>
          </p:cNvPr>
          <p:cNvSpPr txBox="1"/>
          <p:nvPr/>
        </p:nvSpPr>
        <p:spPr>
          <a:xfrm rot="5400000">
            <a:off x="867612" y="6369277"/>
            <a:ext cx="57912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800" dirty="0">
                <a:solidFill>
                  <a:srgbClr val="FFFF00"/>
                </a:solidFill>
              </a:rPr>
              <a:t>molette</a:t>
            </a:r>
          </a:p>
        </p:txBody>
      </p:sp>
    </p:spTree>
    <p:extLst>
      <p:ext uri="{BB962C8B-B14F-4D97-AF65-F5344CB8AC3E}">
        <p14:creationId xmlns:p14="http://schemas.microsoft.com/office/powerpoint/2010/main" val="277119272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Thème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Thème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Thèm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102</TotalTime>
  <Words>287</Words>
  <Application>Microsoft Office PowerPoint</Application>
  <PresentationFormat>Format A4 (210 x 297 mm)</PresentationFormat>
  <Paragraphs>42</Paragraphs>
  <Slides>2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Thème Office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Franck Morel</dc:creator>
  <cp:lastModifiedBy>Franck Morel</cp:lastModifiedBy>
  <cp:revision>1</cp:revision>
  <dcterms:created xsi:type="dcterms:W3CDTF">2024-08-25T19:57:43Z</dcterms:created>
  <dcterms:modified xsi:type="dcterms:W3CDTF">2024-08-25T21:40:05Z</dcterms:modified>
</cp:coreProperties>
</file>